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3B8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PREV IA · 1º CICLO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Inteligente de Seguros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plataforma com IA para centralizar a operação de seguros —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corretora, seguradora e o Sebrae Previdência.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5029200" cy="822960"/>
          </a:xfrm>
          <a:prstGeom prst="roundRect">
            <a:avLst>
              <a:gd name="adj" fmla="val 11111"/>
            </a:avLst>
          </a:prstGeom>
          <a:solidFill>
            <a:srgbClr val="3B8FD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Autora: Luciana Cristina  ·  Área de Seguros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0" y="52303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Risco: Morte e Invalidez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de hoje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de seguros vive fragmentada entre três agentes: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EEF2F8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945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🤝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Corretora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Movimentações, propostas e comissões em planilhas e e-mails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EEF2F8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21945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🛡️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72000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Seguradora (ICATU)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32461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Apólices, sinistros e coberturas em sistema à parte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201168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EEF2F8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1945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🏢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321040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Estipulante (Sebrae Prev)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32461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visão única da carteira que administra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BE6E6"/>
          </a:solidFill>
          <a:ln w="12700">
            <a:solidFill>
              <a:srgbClr val="F0C4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5262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B3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Consequências: 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retrabalho na consolidação manual · baixa rastreabilidade · risco de perder prazos de renovação e cobrança · lentidão para responder participantes e a gestão.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Inteligente de Seguros · Programa Prev IA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portal único, com um assistente de IA no núcleo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Inteligente de Seguros reúne, em um só lugar, tudo o que hoje está espalhado. 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F3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coração dela, um assistente de IA responde em linguagem natural sobre a carteira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apólices, renovações, sinistros, pendências, inadimplência e comissões.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840480"/>
            <a:ext cx="256032" cy="256032"/>
          </a:xfrm>
          <a:prstGeom prst="ellipse">
            <a:avLst/>
          </a:prstGeom>
          <a:solidFill>
            <a:srgbClr val="1E9E5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377647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em linguagem natural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407408"/>
            <a:ext cx="256032" cy="256032"/>
          </a:xfrm>
          <a:prstGeom prst="ellipse">
            <a:avLst/>
          </a:prstGeom>
          <a:solidFill>
            <a:srgbClr val="1E9E5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3434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de pendências pela IA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4974336"/>
            <a:ext cx="256032" cy="256032"/>
          </a:xfrm>
          <a:prstGeom prst="ellipse">
            <a:avLst/>
          </a:prstGeom>
          <a:solidFill>
            <a:srgbClr val="1E9E5B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91032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proativos de renovação e cobrança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5541264"/>
            <a:ext cx="256032" cy="256032"/>
          </a:xfrm>
          <a:prstGeom prst="ellipse">
            <a:avLst/>
          </a:prstGeom>
          <a:solidFill>
            <a:srgbClr val="1E9E5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547725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e resumos automáticos</a:t>
            </a:r>
            <a:endParaRPr lang="en-US" sz="1450" dirty="0"/>
          </a:p>
        </p:txBody>
      </p:sp>
      <p:pic>
        <p:nvPicPr>
          <p:cNvPr id="13" name="Image 0" descr="cap_ass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37360"/>
            <a:ext cx="5303520" cy="3273552"/>
          </a:xfrm>
          <a:prstGeom prst="ellipse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00800" y="50749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de IA consultando a carteira (protótipo)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Inteligente de Seguros · Programa Prev IA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impacto no dia a dia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4114800" cy="2377440"/>
          </a:xfrm>
          <a:prstGeom prst="roundRect">
            <a:avLst>
              <a:gd name="adj" fmla="val 5385"/>
            </a:avLst>
          </a:prstGeom>
          <a:solidFill>
            <a:srgbClr val="1A357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9E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consolidar e responder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consulta da carteira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246888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3B8FD4"/>
                </a:solidFill>
              </a:rPr>
              <a:t>➜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4114800" cy="2377440"/>
          </a:xfrm>
          <a:prstGeom prst="roundRect">
            <a:avLst>
              <a:gd name="adj" fmla="val 5385"/>
            </a:avLst>
          </a:prstGeom>
          <a:solidFill>
            <a:srgbClr val="12603A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2011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9FE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23317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E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s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309360" y="33375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F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em linguagem natural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FF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assistente de 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572000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16306B"/>
          </a:solidFill>
          <a:ln w="12700">
            <a:solidFill>
              <a:srgbClr val="2E4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754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11,4d → 6,2d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5349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análise de sinistro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0" y="4572000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16306B"/>
          </a:solidFill>
          <a:ln w="12700">
            <a:solidFill>
              <a:srgbClr val="2E4A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0" y="4754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R$ 5.120/mês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297680" y="5349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Inadimplência recuperada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06640" y="4572000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16306B"/>
          </a:solidFill>
          <a:ln w="12700">
            <a:solidFill>
              <a:srgbClr val="2E4A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4754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E7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Quase zero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589520" y="5349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de prazos de renovação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estimado após a adoção · dados de demonstração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plataforma faz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EEF2F8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7373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92224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74520" y="17830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Alertas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da carteira e avisos proativos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EEF2F8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7373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792224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623560" y="17830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Esteira de Apólices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63440" y="2651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→ análise → aceitação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EEF2F8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7373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792224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📤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372600" y="17830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&amp; Boletos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412480" y="2651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e emissão por convênio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61188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EEF2F8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88620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941064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874520" y="39319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Comissões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14400" y="4800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Estipulante · corretora · seguradora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389120" y="361188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EEF2F8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388620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941064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623560" y="39319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Inadimplência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663440" y="4800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Régua de cobrança automática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138160" y="3611880"/>
            <a:ext cx="3474720" cy="1874520"/>
          </a:xfrm>
          <a:prstGeom prst="roundRect">
            <a:avLst>
              <a:gd name="adj" fmla="val 5854"/>
            </a:avLst>
          </a:prstGeom>
          <a:solidFill>
            <a:srgbClr val="EEF2F8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0" y="388620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3941064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372600" y="39319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de IA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8412480" y="4800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 apoio à decisão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telas no protótipo navegável · dados fictícios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e conformidade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Construída dentro das diretrizes do Prev IA e da LGPD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731520" cy="731520"/>
          </a:xfrm>
          <a:prstGeom prst="ellipse">
            <a:avLst/>
          </a:prstGeom>
          <a:solidFill>
            <a:srgbClr val="EEF2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37360" y="19202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homologado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46320" y="192024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Desenvolvida no Microsoft 365 Copilot Business, aprovado pela Entidade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731520" cy="731520"/>
          </a:xfrm>
          <a:prstGeom prst="ellipse">
            <a:avLst/>
          </a:prstGeom>
          <a:solidFill>
            <a:srgbClr val="EEF2F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175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37360" y="297180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por perfil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297180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Estipulante vê tudo; corretora e seguradora, só o que lhes compete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731520" cy="731520"/>
          </a:xfrm>
          <a:prstGeom prst="ellipse">
            <a:avLst/>
          </a:prstGeom>
          <a:solidFill>
            <a:srgbClr val="EEF2F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690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37360" y="40233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protegidos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402336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 e dados sensíveis tratados apenas no ambiente homologado; demo com dados fictícios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074920"/>
            <a:ext cx="731520" cy="731520"/>
          </a:xfrm>
          <a:prstGeom prst="ellipse">
            <a:avLst/>
          </a:prstGeom>
          <a:solidFill>
            <a:srgbClr val="EEF2F8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206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737360" y="50749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da área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507492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condicionada à Segurança da Informação e à área responsável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e segurança · Nota Técnica nº 033/2026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de escala: multiproduto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5B3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único, vários ramos.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fluxo e o mesmo assistente atendem qualquer produto — adicionar um ramo é configuração, não recomeço.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057400" cy="2194560"/>
          </a:xfrm>
          <a:prstGeom prst="roundRect">
            <a:avLst>
              <a:gd name="adj" fmla="val 5333"/>
            </a:avLst>
          </a:prstGeom>
          <a:solidFill>
            <a:srgbClr val="E4F6EC"/>
          </a:solidFill>
          <a:ln w="25400">
            <a:solidFill>
              <a:srgbClr val="1E9E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5603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🛡️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33375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Morte e Invalidez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397764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1E9E5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9776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2286000"/>
            <a:ext cx="2057400" cy="2194560"/>
          </a:xfrm>
          <a:prstGeom prst="roundRect">
            <a:avLst>
              <a:gd name="adj" fmla="val 5333"/>
            </a:avLst>
          </a:prstGeom>
          <a:solidFill>
            <a:srgbClr val="EEF2F8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5603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🚗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971800" y="33375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7560" y="397764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D5DAE5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39776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2286000"/>
            <a:ext cx="2057400" cy="2194560"/>
          </a:xfrm>
          <a:prstGeom prst="roundRect">
            <a:avLst>
              <a:gd name="adj" fmla="val 5333"/>
            </a:avLst>
          </a:prstGeom>
          <a:solidFill>
            <a:srgbClr val="EEF2F8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5603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✈️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212080" y="33375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Viagem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77840" y="397764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D5DAE5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39776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60920" y="2286000"/>
            <a:ext cx="2057400" cy="2194560"/>
          </a:xfrm>
          <a:prstGeom prst="roundRect">
            <a:avLst>
              <a:gd name="adj" fmla="val 5333"/>
            </a:avLst>
          </a:prstGeom>
          <a:solidFill>
            <a:srgbClr val="EEF2F8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25603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🚲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452360" y="33375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818120" y="397764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D5DAE5"/>
          </a:solidFill>
          <a:ln/>
        </p:spPr>
      </p:sp>
      <p:sp>
        <p:nvSpPr>
          <p:cNvPr id="23" name="Text 21"/>
          <p:cNvSpPr/>
          <p:nvPr/>
        </p:nvSpPr>
        <p:spPr>
          <a:xfrm>
            <a:off x="7818120" y="39776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01200" y="2286000"/>
            <a:ext cx="2057400" cy="2194560"/>
          </a:xfrm>
          <a:prstGeom prst="roundRect">
            <a:avLst>
              <a:gd name="adj" fmla="val 5333"/>
            </a:avLst>
          </a:prstGeom>
          <a:solidFill>
            <a:srgbClr val="EEF2F8"/>
          </a:solidFill>
          <a:ln w="12700">
            <a:solidFill>
              <a:srgbClr val="D8E2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0" y="256032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🏠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9692640" y="333756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Residencial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0058400" y="3977640"/>
            <a:ext cx="1143000" cy="365760"/>
          </a:xfrm>
          <a:prstGeom prst="roundRect">
            <a:avLst>
              <a:gd name="adj" fmla="val 50000"/>
            </a:avLst>
          </a:prstGeom>
          <a:solidFill>
            <a:srgbClr val="D5DAE5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0" y="39776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937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demonstramos profundidade em Morte e Invalidez. A plataforma já nasce pronta para crescer.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de expansão · critério de escala e replicação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será entregue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1E9E5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91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20848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 IA (out/2026)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155448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de IA de consulta da carteira, no ambiente homologado. É o que será demonstrado.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34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31520" y="32278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 prazo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269748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Gestão, workflow e dashboard com automações de alertas e renovações.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3B8FD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977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43708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prazo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384048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via API (Trust Prev, ICATU, corretora); CRM, funil e financeiro.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983480"/>
            <a:ext cx="1737360" cy="960120"/>
          </a:xfrm>
          <a:prstGeom prst="roundRect">
            <a:avLst>
              <a:gd name="adj" fmla="val 9524"/>
            </a:avLst>
          </a:prstGeom>
          <a:solidFill>
            <a:srgbClr val="6B7691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120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31520" y="55138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Longo prazo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4983480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do participante, assinatura eletrônica e novos ramos.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implantação por fases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011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Comece simples. Teste. Aprenda. Evolua.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200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 Inteligente de Seguros começa resolvendo a dor de hoje —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acesso à informação — e cresce até a plataforma completa.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47548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F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Obrigada!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5486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E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Luciana Cristina  ·  Área de Seguros  ·  Sebrae Previdência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2026-07-21T18:32:43Z</dcterms:created>
  <dcterms:modified xsi:type="dcterms:W3CDTF">2026-07-21T18:32:43Z</dcterms:modified>
</cp:coreProperties>
</file>